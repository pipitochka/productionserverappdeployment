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271" r:id="rId5"/>
    <p:sldId id="400" r:id="rId6"/>
    <p:sldId id="337" r:id="rId7"/>
    <p:sldId id="407" r:id="rId8"/>
    <p:sldId id="408" r:id="rId9"/>
    <p:sldId id="409" r:id="rId10"/>
    <p:sldId id="410" r:id="rId11"/>
    <p:sldId id="411" r:id="rId12"/>
    <p:sldId id="412" r:id="rId13"/>
    <p:sldId id="405" r:id="rId14"/>
    <p:sldId id="402" r:id="rId15"/>
    <p:sldId id="359" r:id="rId16"/>
    <p:sldId id="403" r:id="rId17"/>
    <p:sldId id="413" r:id="rId18"/>
    <p:sldId id="414" r:id="rId19"/>
    <p:sldId id="415" r:id="rId20"/>
    <p:sldId id="416" r:id="rId21"/>
    <p:sldId id="418" r:id="rId22"/>
    <p:sldId id="386" r:id="rId23"/>
    <p:sldId id="419" r:id="rId24"/>
    <p:sldId id="420" r:id="rId25"/>
    <p:sldId id="421" r:id="rId26"/>
    <p:sldId id="422" r:id="rId27"/>
    <p:sldId id="423" r:id="rId28"/>
    <p:sldId id="387" r:id="rId29"/>
    <p:sldId id="425" r:id="rId30"/>
    <p:sldId id="426" r:id="rId31"/>
    <p:sldId id="427" r:id="rId32"/>
    <p:sldId id="424" r:id="rId33"/>
    <p:sldId id="428" r:id="rId34"/>
    <p:sldId id="430" r:id="rId35"/>
    <p:sldId id="431" r:id="rId36"/>
    <p:sldId id="354" r:id="rId37"/>
    <p:sldId id="383" r:id="rId38"/>
    <p:sldId id="357" r:id="rId39"/>
    <p:sldId id="292" r:id="rId4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65F33ED-93E9-4A26-A332-0729DF26802B}">
          <p14:sldIdLst>
            <p14:sldId id="271"/>
          </p14:sldIdLst>
        </p14:section>
        <p14:section name="Раздел без заголовка" id="{C2983B72-E04A-42BB-87EF-4167FEDB2BCF}">
          <p14:sldIdLst>
            <p14:sldId id="400"/>
            <p14:sldId id="337"/>
            <p14:sldId id="407"/>
            <p14:sldId id="408"/>
            <p14:sldId id="409"/>
            <p14:sldId id="410"/>
            <p14:sldId id="411"/>
            <p14:sldId id="412"/>
            <p14:sldId id="405"/>
            <p14:sldId id="402"/>
            <p14:sldId id="359"/>
            <p14:sldId id="403"/>
            <p14:sldId id="413"/>
            <p14:sldId id="414"/>
            <p14:sldId id="415"/>
            <p14:sldId id="416"/>
            <p14:sldId id="418"/>
            <p14:sldId id="386"/>
            <p14:sldId id="419"/>
            <p14:sldId id="420"/>
            <p14:sldId id="421"/>
            <p14:sldId id="422"/>
            <p14:sldId id="423"/>
            <p14:sldId id="387"/>
            <p14:sldId id="425"/>
            <p14:sldId id="426"/>
            <p14:sldId id="427"/>
            <p14:sldId id="424"/>
            <p14:sldId id="428"/>
            <p14:sldId id="430"/>
            <p14:sldId id="431"/>
            <p14:sldId id="354"/>
            <p14:sldId id="383"/>
            <p14:sldId id="357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6"/>
    <a:srgbClr val="0F2C68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8" autoAdjust="0"/>
    <p:restoredTop sz="94715" autoAdjust="0"/>
  </p:normalViewPr>
  <p:slideViewPr>
    <p:cSldViewPr snapToGrid="0" snapToObjects="1">
      <p:cViewPr varScale="1">
        <p:scale>
          <a:sx n="150" d="100"/>
          <a:sy n="150" d="100"/>
        </p:scale>
        <p:origin x="1002" y="12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-277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pPr/>
              <a:t>08.10.2026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75488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34606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91043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4089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03205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8111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23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2591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24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77951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26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39744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27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01571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28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46807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30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9148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31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41998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1315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pPr/>
              <a:t>08.10.2026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4.jpe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vvasilevskiy@edu.hse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951884"/>
            <a:ext cx="7634059" cy="1978323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75407"/>
            <a:ext cx="2278063" cy="463186"/>
          </a:xfrm>
        </p:spPr>
        <p:txBody>
          <a:bodyPr anchor="ctr">
            <a:normAutofit/>
          </a:bodyPr>
          <a:lstStyle/>
          <a:p>
            <a:r>
              <a:rPr lang="ru-RU" dirty="0"/>
              <a:t>Промышленное развертывание серверных приложений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43800" y="4128085"/>
            <a:ext cx="3702050" cy="2398807"/>
          </a:xfrm>
        </p:spPr>
        <p:txBody>
          <a:bodyPr>
            <a:noAutofit/>
          </a:bodyPr>
          <a:lstStyle/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Семинарист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Василевский Владимир Игоревич,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стажер-исследователь Лаборатории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Облачных и Мобильных Технологий</a:t>
            </a:r>
          </a:p>
          <a:p>
            <a:pPr algn="r"/>
            <a:endParaRPr lang="ru-RU" sz="1400" dirty="0">
              <a:latin typeface="HSE Sans" panose="020000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Архитектура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Архитектура</a:t>
            </a: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4264228" y="615836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https://kubernetes.io/docs/concepts/architecture/</a:t>
            </a: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F0E2BFA0-F5FA-475A-8A7A-A85F05A44B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601" y="1779639"/>
            <a:ext cx="7563405" cy="4188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21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Мы поговорили о…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Мы поговорили о…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Подах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РепликаСетах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Деплойментах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КонфигМапах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Секретах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Приложение должно быть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Stateless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 как хранить данные?</a:t>
            </a:r>
          </a:p>
        </p:txBody>
      </p:sp>
      <p:pic>
        <p:nvPicPr>
          <p:cNvPr id="21" name="Picture 2" descr="Picture background">
            <a:extLst>
              <a:ext uri="{FF2B5EF4-FFF2-40B4-BE49-F238E27FC236}">
                <a16:creationId xmlns:a16="http://schemas.microsoft.com/office/drawing/2014/main" id="{C7E64CB0-B923-4DBE-BBC5-CDF5B3D2C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767" y="2724520"/>
            <a:ext cx="3613150" cy="202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32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Решение - </a:t>
            </a:r>
            <a:r>
              <a:rPr lang="en-US" sz="1000" dirty="0" err="1"/>
              <a:t>PersistantVolume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Решение - </a:t>
            </a:r>
            <a:r>
              <a:rPr lang="en-US" sz="2200" dirty="0" err="1"/>
              <a:t>PersistantVolume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3905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Не знаем, где развернется Под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Состояние вне узлов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Сетевой диск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PersistantVolume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кусочек сетевого диска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Описывает размер, расположение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NFS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Принадлежит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кластеру, не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namespace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300+ Free Database &amp; Server Images - Pixabay">
            <a:extLst>
              <a:ext uri="{FF2B5EF4-FFF2-40B4-BE49-F238E27FC236}">
                <a16:creationId xmlns:a16="http://schemas.microsoft.com/office/drawing/2014/main" id="{01E5179F-D145-4EEA-884A-E2EE0F1B2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958" y="1913726"/>
            <a:ext cx="3756210" cy="375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97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Привязка - </a:t>
            </a:r>
            <a:r>
              <a:rPr lang="en-US" sz="1000" dirty="0" err="1"/>
              <a:t>PersistantVolumeClaim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Привязка - </a:t>
            </a:r>
            <a:r>
              <a:rPr lang="en-US" sz="2200" dirty="0" err="1"/>
              <a:t>PersistantVolumeClaim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617508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Поду нужен кусок диска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PersistantVolumeClaim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i="1" dirty="0">
                <a:latin typeface="Times New Roman" pitchFamily="18" charset="0"/>
                <a:cs typeface="Times New Roman" pitchFamily="18" charset="0"/>
              </a:rPr>
              <a:t>мне нужно столько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Монтирование дисков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Переезд -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перемонтирование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4" name="Picture 6" descr="Более 15 800 работ на тему «подключение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99E0AC61-CF32-403C-9091-D3EADAEF1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310" y="1727177"/>
            <a:ext cx="3154680" cy="315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12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Привязка - </a:t>
            </a:r>
            <a:r>
              <a:rPr lang="en-US" sz="1000" dirty="0" err="1"/>
              <a:t>PersistantVolumeClaim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Привязка - </a:t>
            </a:r>
            <a:r>
              <a:rPr lang="en-US" sz="2200" dirty="0" err="1"/>
              <a:t>PersistantVolumeClaim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633398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 Один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PV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– один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PVC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Возьмет весь размер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PV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, даже если он больше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Кластеры обитают в облаке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Декларативный подход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Диски нарезает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облако по запросу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The Types of Databases (with Examples)">
            <a:extLst>
              <a:ext uri="{FF2B5EF4-FFF2-40B4-BE49-F238E27FC236}">
                <a16:creationId xmlns:a16="http://schemas.microsoft.com/office/drawing/2014/main" id="{9300428E-9E29-49F3-8822-E798E85AF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2617508"/>
            <a:ext cx="4507230" cy="238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Базы данных и необходимость </a:t>
            </a:r>
            <a:r>
              <a:rPr lang="ru-RU" sz="1000" dirty="0" err="1"/>
              <a:t>StatefulSet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Базы данных и необходимость </a:t>
            </a:r>
            <a:r>
              <a:rPr lang="en-US" sz="2200" dirty="0" err="1"/>
              <a:t>StatefulSet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6088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Высоконагруженный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LMS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Хотим БД в кластерном режиме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Разделить чтение и запись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Репликация БД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Правила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Реплики из мастера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Писать в мастера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Читать из реплик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Проблема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Перед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Кубернетесом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все равны!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735420-A451-4A69-ABCE-7AE3216F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181" y="2049299"/>
            <a:ext cx="4210638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54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Базы данных и необходимость </a:t>
            </a:r>
            <a:r>
              <a:rPr lang="ru-RU" sz="1000" dirty="0" err="1"/>
              <a:t>StatefulSet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Базы данных и необходимость </a:t>
            </a:r>
            <a:r>
              <a:rPr lang="en-US" sz="2200" dirty="0" err="1"/>
              <a:t>StatefulSet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6088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 Питомцы и скот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Deployment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скот, все равны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Rollout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одним больше, одним меньше – не страшно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StatefulSet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питомцы, каждый уникален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Строго один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питомец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 одним именем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Каждому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питомцу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свой диск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3916C2D-AD39-44C5-8E8D-7556C542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274" y="2785972"/>
            <a:ext cx="5501512" cy="21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3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Непросто, нелегко – управление БД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Непросто, нелегко – управление БД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6088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Создаем пользователя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Выдаем права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Настраиваем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Write Ahead Log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Настраиваем реплики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Создаем сервис на реплики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Разбираемся много часов, почему ничего не работает…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i="1" dirty="0">
                <a:latin typeface="Times New Roman" pitchFamily="18" charset="0"/>
                <a:cs typeface="Times New Roman" pitchFamily="18" charset="0"/>
              </a:rPr>
              <a:t>Неужели никто не сделал это за нас?..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5670B5-EB43-4396-8EEC-9950C002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42" y="2096587"/>
            <a:ext cx="4458322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24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 </a:t>
            </a:r>
            <a:r>
              <a:rPr lang="en-US" sz="1000" dirty="0"/>
              <a:t>Helm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Предпосылки появления</a:t>
            </a:r>
            <a:r>
              <a:rPr lang="en-US" sz="2200" dirty="0"/>
              <a:t> Helm</a:t>
            </a:r>
            <a:endParaRPr lang="ru-RU" sz="2200" dirty="0"/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17" y="191372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316" y="1899292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669" y="184542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571" y="3835081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3270" y="2007179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870" y="3962296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827" y="3858553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9966" y="3600540"/>
            <a:ext cx="667491" cy="639259"/>
          </a:xfrm>
          <a:prstGeom prst="rect">
            <a:avLst/>
          </a:prstGeom>
        </p:spPr>
      </p:pic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Конфигурации растут, сложность растет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Стандартные решения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Менеджер пакетов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мира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Конфигураций много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Различные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Удобная обертка над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Кубернетесом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100" dirty="0">
                <a:latin typeface="Times New Roman" pitchFamily="18" charset="0"/>
                <a:cs typeface="Times New Roman" pitchFamily="18" charset="0"/>
              </a:rPr>
              <a:t>(что-то это напоминает…)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 descr="Helm">
            <a:extLst>
              <a:ext uri="{FF2B5EF4-FFF2-40B4-BE49-F238E27FC236}">
                <a16:creationId xmlns:a16="http://schemas.microsoft.com/office/drawing/2014/main" id="{B7266848-1839-43D5-9B15-D562C2998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596" y="2887346"/>
            <a:ext cx="1022350" cy="118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Styleguide | Helm">
            <a:extLst>
              <a:ext uri="{FF2B5EF4-FFF2-40B4-BE49-F238E27FC236}">
                <a16:creationId xmlns:a16="http://schemas.microsoft.com/office/drawing/2014/main" id="{9B300A0D-048F-4DED-88CB-540DE384B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523" y="2418877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Styleguide | Helm">
            <a:extLst>
              <a:ext uri="{FF2B5EF4-FFF2-40B4-BE49-F238E27FC236}">
                <a16:creationId xmlns:a16="http://schemas.microsoft.com/office/drawing/2014/main" id="{22EAFC5B-B31A-470C-887A-7ED70E658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693" y="2349980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Styleguide | Helm">
            <a:extLst>
              <a:ext uri="{FF2B5EF4-FFF2-40B4-BE49-F238E27FC236}">
                <a16:creationId xmlns:a16="http://schemas.microsoft.com/office/drawing/2014/main" id="{3BABB41B-2604-41D9-A12E-466BC5061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750" y="4352236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Styleguide | Helm">
            <a:extLst>
              <a:ext uri="{FF2B5EF4-FFF2-40B4-BE49-F238E27FC236}">
                <a16:creationId xmlns:a16="http://schemas.microsoft.com/office/drawing/2014/main" id="{DA3C13B6-E3FE-4F23-AA77-16E7C3D8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1" y="4347266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AC0962-E1DE-493D-8BF5-FA2CA308B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7522" y="1266399"/>
            <a:ext cx="1064508" cy="280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5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Напоминает </a:t>
            </a:r>
            <a:r>
              <a:rPr lang="en-US" sz="1000" dirty="0"/>
              <a:t>Docker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Напоминает </a:t>
            </a:r>
            <a:r>
              <a:rPr lang="en-US" sz="2200" dirty="0"/>
              <a:t>Docker</a:t>
            </a:r>
            <a:endParaRPr lang="ru-RU" sz="2200" dirty="0"/>
          </a:p>
        </p:txBody>
      </p:sp>
      <p:sp>
        <p:nvSpPr>
          <p:cNvPr id="23" name="AutoShape 10" descr="Acer Nitro EI342CKRPbmiippx — как правильно подключить монитор к  компьютеру: пошаговая инструкция [20/32]">
            <a:extLst>
              <a:ext uri="{FF2B5EF4-FFF2-40B4-BE49-F238E27FC236}">
                <a16:creationId xmlns:a16="http://schemas.microsoft.com/office/drawing/2014/main" id="{D1889FF7-7C51-47F4-B2C7-F46E96B6A7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9591" y="3242846"/>
            <a:ext cx="104140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AutoShape 18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673C010D-AE00-42A1-B740-1327991F59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991" y="33952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9E49DE9E-3BA4-4F67-B83F-183EDE786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754" y="2342683"/>
            <a:ext cx="4559113" cy="304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2" descr="Docker - Visual Studio Marketplace">
            <a:extLst>
              <a:ext uri="{FF2B5EF4-FFF2-40B4-BE49-F238E27FC236}">
                <a16:creationId xmlns:a16="http://schemas.microsoft.com/office/drawing/2014/main" id="{BAD7DCC0-794A-4F6A-93C3-2A77B9028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302" y="4126203"/>
            <a:ext cx="888016" cy="75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6" descr="Java 17 new features. Java 17, also known as Java SE 17, is… | by Hiten  Pratap Singh | hprog99 | Medium">
            <a:extLst>
              <a:ext uri="{FF2B5EF4-FFF2-40B4-BE49-F238E27FC236}">
                <a16:creationId xmlns:a16="http://schemas.microsoft.com/office/drawing/2014/main" id="{A55C3930-4334-47D5-8221-6B64CBD9C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507" y="2950096"/>
            <a:ext cx="782589" cy="43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0A92C11-7004-4F4D-A8CA-89EB8796C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7222" y="2767597"/>
            <a:ext cx="667491" cy="639259"/>
          </a:xfrm>
          <a:prstGeom prst="rect">
            <a:avLst/>
          </a:prstGeom>
        </p:spPr>
      </p:pic>
      <p:sp>
        <p:nvSpPr>
          <p:cNvPr id="29" name="Текст 3">
            <a:extLst>
              <a:ext uri="{FF2B5EF4-FFF2-40B4-BE49-F238E27FC236}">
                <a16:creationId xmlns:a16="http://schemas.microsoft.com/office/drawing/2014/main" id="{2805BBBC-5EB5-47B1-B417-204D24CAC7BA}"/>
              </a:ext>
            </a:extLst>
          </p:cNvPr>
          <p:cNvSpPr txBox="1">
            <a:spLocks/>
          </p:cNvSpPr>
          <p:nvPr/>
        </p:nvSpPr>
        <p:spPr>
          <a:xfrm>
            <a:off x="7041291" y="5486237"/>
            <a:ext cx="384434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Комплектация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Ubuntu 22.04, Java 17, Backend App</a:t>
            </a:r>
          </a:p>
        </p:txBody>
      </p:sp>
      <p:pic>
        <p:nvPicPr>
          <p:cNvPr id="31" name="Picture 18" descr="Ubuntu 22.04.1 LTS Jammy Jellyfish (August, 2022) Desktop 64-bit Official  ISO : Ubuntu : Free Download, Borrow, and Streaming : Internet Archive">
            <a:extLst>
              <a:ext uri="{FF2B5EF4-FFF2-40B4-BE49-F238E27FC236}">
                <a16:creationId xmlns:a16="http://schemas.microsoft.com/office/drawing/2014/main" id="{F64610F1-5C90-4244-8BCD-8BD998121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050" y="2960239"/>
            <a:ext cx="614331" cy="43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18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C00E13B8-AA28-4C9C-BBFC-BCBC140EC3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2914" y="33952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5595BA73-B864-41D2-AB00-C9ED5E244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77" y="2342683"/>
            <a:ext cx="4559113" cy="304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Текст 3">
            <a:extLst>
              <a:ext uri="{FF2B5EF4-FFF2-40B4-BE49-F238E27FC236}">
                <a16:creationId xmlns:a16="http://schemas.microsoft.com/office/drawing/2014/main" id="{1765E1AC-D427-4ADA-BA51-125C88575B54}"/>
              </a:ext>
            </a:extLst>
          </p:cNvPr>
          <p:cNvSpPr txBox="1">
            <a:spLocks/>
          </p:cNvSpPr>
          <p:nvPr/>
        </p:nvSpPr>
        <p:spPr>
          <a:xfrm>
            <a:off x="1582214" y="5486237"/>
            <a:ext cx="384434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Комплектация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Деплоймент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конфигмапы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, секреты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6" name="Picture 12" descr="Styleguide | Helm">
            <a:extLst>
              <a:ext uri="{FF2B5EF4-FFF2-40B4-BE49-F238E27FC236}">
                <a16:creationId xmlns:a16="http://schemas.microsoft.com/office/drawing/2014/main" id="{8E0AAB42-B5A5-4BC8-903F-E7D866937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564" y="3831770"/>
            <a:ext cx="1300320" cy="130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DCED29-7C19-47A9-A6B6-C775B2CC6B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8228" y="2757059"/>
            <a:ext cx="1333686" cy="666843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529BDF16-5904-4EF9-97FA-84DC087B0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120" y="2628712"/>
            <a:ext cx="350063" cy="33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64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1C6F44-5778-41C7-9C66-92AD01A3A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99" y="2404945"/>
            <a:ext cx="4562475" cy="3048000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И докер-</a:t>
            </a:r>
            <a:r>
              <a:rPr lang="ru-RU" sz="1000" dirty="0" err="1"/>
              <a:t>компоуз</a:t>
            </a:r>
            <a:r>
              <a:rPr lang="ru-RU" sz="1000" dirty="0"/>
              <a:t>…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520973" y="1914394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И докер-</a:t>
            </a:r>
            <a:r>
              <a:rPr lang="ru-RU" sz="2200" dirty="0" err="1"/>
              <a:t>компоуз</a:t>
            </a:r>
            <a:r>
              <a:rPr lang="ru-RU" sz="2200" dirty="0"/>
              <a:t>…</a:t>
            </a:r>
          </a:p>
        </p:txBody>
      </p:sp>
      <p:sp>
        <p:nvSpPr>
          <p:cNvPr id="83" name="AutoShape 18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5E92D186-53CC-4493-909F-A7BE7E5E86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69088" y="252276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5" name="Picture 12" descr="Styleguide | Helm">
            <a:extLst>
              <a:ext uri="{FF2B5EF4-FFF2-40B4-BE49-F238E27FC236}">
                <a16:creationId xmlns:a16="http://schemas.microsoft.com/office/drawing/2014/main" id="{A1392D9C-E89C-4AFA-A70F-30AC75552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47" y="3841683"/>
            <a:ext cx="1300320" cy="130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4E936B-4EF0-44CF-8F5E-F7703D4F8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54" y="2487112"/>
            <a:ext cx="1719371" cy="1148640"/>
          </a:xfrm>
          <a:prstGeom prst="rect">
            <a:avLst/>
          </a:prstGeom>
        </p:spPr>
      </p:pic>
      <p:pic>
        <p:nvPicPr>
          <p:cNvPr id="51" name="Picture 2" descr="PostgreSQL">
            <a:extLst>
              <a:ext uri="{FF2B5EF4-FFF2-40B4-BE49-F238E27FC236}">
                <a16:creationId xmlns:a16="http://schemas.microsoft.com/office/drawing/2014/main" id="{B6F966C5-813C-416C-B91D-4C82F83E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934" y="2497851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2" descr="Styleguide | Helm">
            <a:extLst>
              <a:ext uri="{FF2B5EF4-FFF2-40B4-BE49-F238E27FC236}">
                <a16:creationId xmlns:a16="http://schemas.microsoft.com/office/drawing/2014/main" id="{E6BA64B6-7C7F-4653-94DA-6029DFEE5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267" y="3043038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60D0EE8-21E6-4E89-9246-89F4E84A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239" y="2528294"/>
            <a:ext cx="1712655" cy="1144153"/>
          </a:xfrm>
          <a:prstGeom prst="rect">
            <a:avLst/>
          </a:prstGeom>
        </p:spPr>
      </p:pic>
      <p:pic>
        <p:nvPicPr>
          <p:cNvPr id="64" name="Picture 12" descr="Styleguide | Helm">
            <a:extLst>
              <a:ext uri="{FF2B5EF4-FFF2-40B4-BE49-F238E27FC236}">
                <a16:creationId xmlns:a16="http://schemas.microsoft.com/office/drawing/2014/main" id="{D073F04F-67E8-4A4C-B320-D5E85E2DF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945" y="3077547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FFBCE8D-C2EB-45E3-9F5F-C7595286B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821" y="2300057"/>
            <a:ext cx="667491" cy="6392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16B4852-F152-4765-9E50-5160F6120E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322" y="1444449"/>
            <a:ext cx="5292135" cy="396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8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В крупной компании…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В крупной компании…</a:t>
            </a:r>
          </a:p>
        </p:txBody>
      </p:sp>
      <p:pic>
        <p:nvPicPr>
          <p:cNvPr id="5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D15D9FC0-3872-4B7C-9366-F5C520DA2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802" y="2117603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PostgreSQL">
            <a:extLst>
              <a:ext uri="{FF2B5EF4-FFF2-40B4-BE49-F238E27FC236}">
                <a16:creationId xmlns:a16="http://schemas.microsoft.com/office/drawing/2014/main" id="{B6F966C5-813C-416C-B91D-4C82F83E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801" y="2103169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C986E6D-94CC-407A-89DF-5E5BD845D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154" y="204929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426D4CEA-8243-4D63-BC78-DE529522D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56" y="4038958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 descr="Picture background">
            <a:extLst>
              <a:ext uri="{FF2B5EF4-FFF2-40B4-BE49-F238E27FC236}">
                <a16:creationId xmlns:a16="http://schemas.microsoft.com/office/drawing/2014/main" id="{9E775AF8-A202-40F3-B1F2-E67CCF759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55" y="2211056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6" descr="Picture background">
            <a:extLst>
              <a:ext uri="{FF2B5EF4-FFF2-40B4-BE49-F238E27FC236}">
                <a16:creationId xmlns:a16="http://schemas.microsoft.com/office/drawing/2014/main" id="{3906B603-97FC-4D42-AE07-3480BDE7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55" y="4166173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CE431E62-7BD6-49F1-9EA3-DDB9B4C87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312" y="4062430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FFBCE8D-C2EB-45E3-9F5F-C7595286B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451" y="3804417"/>
            <a:ext cx="667491" cy="639259"/>
          </a:xfrm>
          <a:prstGeom prst="rect">
            <a:avLst/>
          </a:prstGeom>
        </p:spPr>
      </p:pic>
      <p:pic>
        <p:nvPicPr>
          <p:cNvPr id="58" name="Picture 4" descr="Helm">
            <a:extLst>
              <a:ext uri="{FF2B5EF4-FFF2-40B4-BE49-F238E27FC236}">
                <a16:creationId xmlns:a16="http://schemas.microsoft.com/office/drawing/2014/main" id="{9B1FEAE3-36F1-40AF-96C1-8DC9C36C4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81" y="3091223"/>
            <a:ext cx="1022350" cy="118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2" descr="Styleguide | Helm">
            <a:extLst>
              <a:ext uri="{FF2B5EF4-FFF2-40B4-BE49-F238E27FC236}">
                <a16:creationId xmlns:a16="http://schemas.microsoft.com/office/drawing/2014/main" id="{E6BA64B6-7C7F-4653-94DA-6029DFEE5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008" y="2622754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2" descr="Styleguide | Helm">
            <a:extLst>
              <a:ext uri="{FF2B5EF4-FFF2-40B4-BE49-F238E27FC236}">
                <a16:creationId xmlns:a16="http://schemas.microsoft.com/office/drawing/2014/main" id="{FA929031-61F2-4971-9699-5C4110DDD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178" y="2553857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2" descr="Styleguide | Helm">
            <a:extLst>
              <a:ext uri="{FF2B5EF4-FFF2-40B4-BE49-F238E27FC236}">
                <a16:creationId xmlns:a16="http://schemas.microsoft.com/office/drawing/2014/main" id="{891521A4-936C-486A-8642-E24418766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235" y="4556113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2" descr="Styleguide | Helm">
            <a:extLst>
              <a:ext uri="{FF2B5EF4-FFF2-40B4-BE49-F238E27FC236}">
                <a16:creationId xmlns:a16="http://schemas.microsoft.com/office/drawing/2014/main" id="{D073F04F-67E8-4A4C-B320-D5E85E2DF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766" y="4551143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0262188D-6648-416F-825A-C3A39D0FF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335" y="205533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PostgreSQL">
            <a:extLst>
              <a:ext uri="{FF2B5EF4-FFF2-40B4-BE49-F238E27FC236}">
                <a16:creationId xmlns:a16="http://schemas.microsoft.com/office/drawing/2014/main" id="{44B2092A-2AE4-4669-9B47-C52F3CB7F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334" y="2040902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9CC1C35-56E3-4797-BBF9-A27B487E5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687" y="198703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4A3A7E13-8277-41EB-81DF-DDF8296A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589" y="3976691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Picture background">
            <a:extLst>
              <a:ext uri="{FF2B5EF4-FFF2-40B4-BE49-F238E27FC236}">
                <a16:creationId xmlns:a16="http://schemas.microsoft.com/office/drawing/2014/main" id="{77809FF0-E204-48B5-A36C-CDB3E8C4C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288" y="2148789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" descr="Picture background">
            <a:extLst>
              <a:ext uri="{FF2B5EF4-FFF2-40B4-BE49-F238E27FC236}">
                <a16:creationId xmlns:a16="http://schemas.microsoft.com/office/drawing/2014/main" id="{BB923361-296B-4EF0-8E50-82D91CA39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888" y="4103906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51C18753-9CC6-4930-8E25-2BD44224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45" y="4000163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5501F2A9-DFD7-4359-A0D0-4CC42484D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4984" y="3742150"/>
            <a:ext cx="667491" cy="639259"/>
          </a:xfrm>
          <a:prstGeom prst="rect">
            <a:avLst/>
          </a:prstGeom>
        </p:spPr>
      </p:pic>
      <p:pic>
        <p:nvPicPr>
          <p:cNvPr id="73" name="Picture 4" descr="Helm">
            <a:extLst>
              <a:ext uri="{FF2B5EF4-FFF2-40B4-BE49-F238E27FC236}">
                <a16:creationId xmlns:a16="http://schemas.microsoft.com/office/drawing/2014/main" id="{953B6F5B-6CF2-4AEC-8A27-3C56081FD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614" y="3028956"/>
            <a:ext cx="1022350" cy="118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12" descr="Styleguide | Helm">
            <a:extLst>
              <a:ext uri="{FF2B5EF4-FFF2-40B4-BE49-F238E27FC236}">
                <a16:creationId xmlns:a16="http://schemas.microsoft.com/office/drawing/2014/main" id="{56D6564F-078A-4D4D-BA4B-A95B544A3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541" y="2560487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12" descr="Styleguide | Helm">
            <a:extLst>
              <a:ext uri="{FF2B5EF4-FFF2-40B4-BE49-F238E27FC236}">
                <a16:creationId xmlns:a16="http://schemas.microsoft.com/office/drawing/2014/main" id="{14695804-992D-4446-A010-97DAD5CB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711" y="2491590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12" descr="Styleguide | Helm">
            <a:extLst>
              <a:ext uri="{FF2B5EF4-FFF2-40B4-BE49-F238E27FC236}">
                <a16:creationId xmlns:a16="http://schemas.microsoft.com/office/drawing/2014/main" id="{719D7377-A2BB-4E9C-9A44-F13A21A28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768" y="4493846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2" descr="Styleguide | Helm">
            <a:extLst>
              <a:ext uri="{FF2B5EF4-FFF2-40B4-BE49-F238E27FC236}">
                <a16:creationId xmlns:a16="http://schemas.microsoft.com/office/drawing/2014/main" id="{1D187039-2E7D-46C4-9547-62FCE4D08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299" y="4488876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Текст 3">
            <a:extLst>
              <a:ext uri="{FF2B5EF4-FFF2-40B4-BE49-F238E27FC236}">
                <a16:creationId xmlns:a16="http://schemas.microsoft.com/office/drawing/2014/main" id="{F438332B-F554-4F16-B260-BE1EF0ACE213}"/>
              </a:ext>
            </a:extLst>
          </p:cNvPr>
          <p:cNvSpPr txBox="1">
            <a:spLocks/>
          </p:cNvSpPr>
          <p:nvPr/>
        </p:nvSpPr>
        <p:spPr>
          <a:xfrm>
            <a:off x="1982827" y="5452945"/>
            <a:ext cx="3286925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Продовое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окружение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Текст 3">
            <a:extLst>
              <a:ext uri="{FF2B5EF4-FFF2-40B4-BE49-F238E27FC236}">
                <a16:creationId xmlns:a16="http://schemas.microsoft.com/office/drawing/2014/main" id="{F036B443-1862-4A1D-B885-835AFECAEAD8}"/>
              </a:ext>
            </a:extLst>
          </p:cNvPr>
          <p:cNvSpPr txBox="1">
            <a:spLocks/>
          </p:cNvSpPr>
          <p:nvPr/>
        </p:nvSpPr>
        <p:spPr>
          <a:xfrm>
            <a:off x="7471521" y="5323075"/>
            <a:ext cx="3286925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Дев-окружение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04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Каков он - </a:t>
            </a:r>
            <a:r>
              <a:rPr lang="en-US" sz="1000" dirty="0"/>
              <a:t>Helm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Каков он - </a:t>
            </a:r>
            <a:r>
              <a:rPr lang="en-US" sz="2200" dirty="0"/>
              <a:t>Helm</a:t>
            </a:r>
            <a:endParaRPr lang="ru-RU" sz="2200" dirty="0"/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502" y="191372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Текст 3">
            <a:extLst>
              <a:ext uri="{FF2B5EF4-FFF2-40B4-BE49-F238E27FC236}">
                <a16:creationId xmlns:a16="http://schemas.microsoft.com/office/drawing/2014/main" id="{24AF152D-D7AA-4065-A718-097EF9AB6E47}"/>
              </a:ext>
            </a:extLst>
          </p:cNvPr>
          <p:cNvSpPr txBox="1">
            <a:spLocks/>
          </p:cNvSpPr>
          <p:nvPr/>
        </p:nvSpPr>
        <p:spPr>
          <a:xfrm>
            <a:off x="6961392" y="5027957"/>
            <a:ext cx="3286925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Все конфигурации компонентов системы описываются как чарты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501" y="1899292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854" y="184542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756" y="3835081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455" y="2007179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055" y="3962296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012" y="3858553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151" y="3600540"/>
            <a:ext cx="667491" cy="639259"/>
          </a:xfrm>
          <a:prstGeom prst="rect">
            <a:avLst/>
          </a:prstGeom>
        </p:spPr>
      </p:pic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Обертка над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Кубернетесом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Шаблонизация всех конфигураций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Все значения шаблонов выносятся в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values.yml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Паковка в проекты под названием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Chart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Чарты грузятся в реестр контейнеров </a:t>
            </a:r>
            <a:r>
              <a:rPr lang="ru-RU" sz="1200" dirty="0">
                <a:latin typeface="Times New Roman" pitchFamily="18" charset="0"/>
                <a:cs typeface="Times New Roman" pitchFamily="18" charset="0"/>
              </a:rPr>
              <a:t>(так было не всегда)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Легким движением руки Чарты применяются…   </a:t>
            </a:r>
            <a:r>
              <a:rPr lang="ru-RU" sz="1800" i="1" dirty="0">
                <a:latin typeface="Times New Roman" pitchFamily="18" charset="0"/>
                <a:cs typeface="Times New Roman" pitchFamily="18" charset="0"/>
              </a:rPr>
              <a:t>Кем?</a:t>
            </a:r>
          </a:p>
        </p:txBody>
      </p:sp>
      <p:pic>
        <p:nvPicPr>
          <p:cNvPr id="7" name="Picture 4" descr="Helm">
            <a:extLst>
              <a:ext uri="{FF2B5EF4-FFF2-40B4-BE49-F238E27FC236}">
                <a16:creationId xmlns:a16="http://schemas.microsoft.com/office/drawing/2014/main" id="{B7266848-1839-43D5-9B15-D562C2998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81" y="2887346"/>
            <a:ext cx="1022350" cy="118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Styleguide | Helm">
            <a:extLst>
              <a:ext uri="{FF2B5EF4-FFF2-40B4-BE49-F238E27FC236}">
                <a16:creationId xmlns:a16="http://schemas.microsoft.com/office/drawing/2014/main" id="{9B300A0D-048F-4DED-88CB-540DE384B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708" y="2418877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Styleguide | Helm">
            <a:extLst>
              <a:ext uri="{FF2B5EF4-FFF2-40B4-BE49-F238E27FC236}">
                <a16:creationId xmlns:a16="http://schemas.microsoft.com/office/drawing/2014/main" id="{22EAFC5B-B31A-470C-887A-7ED70E658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878" y="2349980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Styleguide | Helm">
            <a:extLst>
              <a:ext uri="{FF2B5EF4-FFF2-40B4-BE49-F238E27FC236}">
                <a16:creationId xmlns:a16="http://schemas.microsoft.com/office/drawing/2014/main" id="{3BABB41B-2604-41D9-A12E-466BC5061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935" y="4352236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Styleguide | Helm">
            <a:extLst>
              <a:ext uri="{FF2B5EF4-FFF2-40B4-BE49-F238E27FC236}">
                <a16:creationId xmlns:a16="http://schemas.microsoft.com/office/drawing/2014/main" id="{DA3C13B6-E3FE-4F23-AA77-16E7C3D8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466" y="4347266"/>
            <a:ext cx="504084" cy="50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97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Чарт применяется…   Кем?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Чарты применяются…   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Кем?</a:t>
            </a:r>
            <a:endParaRPr lang="ru-RU" sz="2200" dirty="0"/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6931228" y="620916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https://kubernetes.io/docs/concepts/architecture/</a:t>
            </a: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F0E2BFA0-F5FA-475A-8A7A-A85F05A44B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550" y="1880865"/>
            <a:ext cx="7027033" cy="380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Текст 3">
            <a:extLst>
              <a:ext uri="{FF2B5EF4-FFF2-40B4-BE49-F238E27FC236}">
                <a16:creationId xmlns:a16="http://schemas.microsoft.com/office/drawing/2014/main" id="{EEC01197-A9FF-4B81-A5ED-9A8D884DB6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084" y="233563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Было раньше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Tiller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божественная рука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Является подом 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root-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доступом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Управляет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-server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Создает кучу проблем с безопасностью…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Нарушает систему прав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RBAC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Сейчас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Работает на клиенте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Работает от Вашего имени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Стало намного безопаснее</a:t>
            </a:r>
          </a:p>
        </p:txBody>
      </p:sp>
    </p:spTree>
    <p:extLst>
      <p:ext uri="{BB962C8B-B14F-4D97-AF65-F5344CB8AC3E}">
        <p14:creationId xmlns:p14="http://schemas.microsoft.com/office/powerpoint/2010/main" val="3136547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Хуки и тесты - предпосылки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Хуки и тесты - предпосылки</a:t>
            </a:r>
            <a:endParaRPr lang="ru-RU" sz="2200" dirty="0"/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EC01197-A9FF-4B81-A5ED-9A8D884DB6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084" y="190671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Было раньше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Раскатываем вручную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Конфиг за конфигом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 первый раз? – настройка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Обновление? –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бекап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Все готово? Идем проверять, не упало ли все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Завершили? – идем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дашборд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меняем статус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Сейчас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Делаем все одной командой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Хотим все автоматизировать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Нужен способ запускать что-то до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после выполнения команды</a:t>
            </a:r>
          </a:p>
        </p:txBody>
      </p:sp>
      <p:pic>
        <p:nvPicPr>
          <p:cNvPr id="5122" name="Picture 2" descr="Более 48 200 работ на тему «делать шаг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01555A22-EA2B-45C0-ADA1-6D1C9160E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099" y="2248799"/>
            <a:ext cx="4806219" cy="320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67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Хуки и тесты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Хуки и тесты</a:t>
            </a:r>
            <a:endParaRPr lang="ru-RU" sz="2200" dirty="0"/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EC01197-A9FF-4B81-A5ED-9A8D884DB6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284" y="231021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Хук - событие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Управляет обычным подом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Запускает под по событию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Удаляет до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после запуска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Может иметь вес для очередности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Тест – хук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Происходит в конце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Если под вернул 0 – тест пройден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5FD1A8B4-5FEE-4F1D-A498-6EC34AE4E0CA}"/>
              </a:ext>
            </a:extLst>
          </p:cNvPr>
          <p:cNvSpPr txBox="1">
            <a:spLocks/>
          </p:cNvSpPr>
          <p:nvPr/>
        </p:nvSpPr>
        <p:spPr>
          <a:xfrm>
            <a:off x="6710742" y="1857634"/>
            <a:ext cx="5620869" cy="3756210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Основные хуки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pre-install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перед установкой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post-install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после установки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pre-upgrade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перед обновлением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post-upgrade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после обновления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pre-delete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перед удалением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post-delete -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после удаления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895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Зависимости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Зависимости</a:t>
            </a:r>
            <a:endParaRPr lang="ru-RU" sz="2200" dirty="0"/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EC01197-A9FF-4B81-A5ED-9A8D884DB6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284" y="244123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Чарт в чарте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Не хотим копировать чарт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Можно менять настройки вложенных чартов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Проброс значений и глобальные значения</a:t>
            </a:r>
          </a:p>
        </p:txBody>
      </p:sp>
      <p:pic>
        <p:nvPicPr>
          <p:cNvPr id="6146" name="Picture 2" descr="A Guide to Dependencies, Constraints and Assumptions (Part 1): Project  Dependencies - InLoox">
            <a:extLst>
              <a:ext uri="{FF2B5EF4-FFF2-40B4-BE49-F238E27FC236}">
                <a16:creationId xmlns:a16="http://schemas.microsoft.com/office/drawing/2014/main" id="{93D3A367-722F-4A2A-BF77-A1E3A58A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255" y="2045843"/>
            <a:ext cx="3886432" cy="258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304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Поднимаем карманный кластер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Поднимаем карманный кластер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358421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kind create cluster --name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--config kind-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config.yaml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ps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cluster-info --context kind-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create namespace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config current-context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config set-context --current --namespace=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7037767" y="590729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https://kind.sigs.k8s.io/docs/user/quick-start/#creating-a-cluster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692801-38CA-4820-9A34-260FFBED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7" y="1890909"/>
            <a:ext cx="2562486" cy="14024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3326CE-FFFA-48F4-A595-20BCB7EA3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189" y="2874562"/>
            <a:ext cx="4964663" cy="139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6EBE0B-AC67-4CF8-838E-D3A51CF9C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509" y="1727177"/>
            <a:ext cx="3407774" cy="295960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Почему мы не храним данные на </a:t>
            </a:r>
            <a:r>
              <a:rPr lang="ru-RU" sz="1000" dirty="0" err="1"/>
              <a:t>ноде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Почему мы не храним данные на </a:t>
            </a:r>
            <a:r>
              <a:rPr lang="ru-RU" sz="2200" dirty="0" err="1"/>
              <a:t>ноде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199019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Смонтируем папку на диске и запишем в нее данные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unstable.yaml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temp-pod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 "echo 'DATA' &gt; /data/log.txt“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temp-pod -- cat /data/log.txt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Данные вроде бы лежат на диске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Авария на узле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delete pod temp-pod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Убеждаемся, что файл жив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temp-pod -- cat /data/log.txt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 его нет…</a:t>
            </a:r>
          </a:p>
        </p:txBody>
      </p:sp>
    </p:spTree>
    <p:extLst>
      <p:ext uri="{BB962C8B-B14F-4D97-AF65-F5344CB8AC3E}">
        <p14:creationId xmlns:p14="http://schemas.microsoft.com/office/powerpoint/2010/main" val="1674302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Как мы храним данные на самом деле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Как мы храним данные на самом деле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199019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Смонтируем папку на диске и запишем в нее данные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pvc.yaml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durable-pod-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1.yaml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durable-pod-1 --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 "echo 'DATA' &gt; /data/log.txt“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durable-pod-1 -- cat /data/log.txt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Данные вроде бы лежат на диске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Авария на узле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delete pod durable-pod-1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Убеждаемся, что файл жив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durable-pod-1 -- cat /data/log.txt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 его нет…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BF2177-7E9D-48F3-A4E0-CFA8DACB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000" y="3060620"/>
            <a:ext cx="3400900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9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Проверка </a:t>
            </a:r>
            <a:r>
              <a:rPr lang="ru-RU" sz="1000" dirty="0" err="1"/>
              <a:t>персистентности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Проверка </a:t>
            </a:r>
            <a:r>
              <a:rPr lang="ru-RU" sz="2200" dirty="0" err="1"/>
              <a:t>персистентности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5984" y="243469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Привяжем папку к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другому поду и в другое место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durable-pod-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durable-pod-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-- cat 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mnt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/data/log.txt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Данные на месте!!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A14450-38EB-48BA-8D5F-074500973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040" y="1868215"/>
            <a:ext cx="4887007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37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Первый </a:t>
            </a:r>
            <a:r>
              <a:rPr lang="en-US" sz="1000" dirty="0" err="1"/>
              <a:t>StatefulSet</a:t>
            </a:r>
            <a:r>
              <a:rPr lang="en-US" sz="1000" dirty="0"/>
              <a:t> – </a:t>
            </a:r>
            <a:r>
              <a:rPr lang="ru-RU" sz="1000" dirty="0"/>
              <a:t>заводим “питомцев”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Первый </a:t>
            </a:r>
            <a:r>
              <a:rPr lang="en-US" sz="2200" dirty="0" err="1"/>
              <a:t>StatefulSet</a:t>
            </a:r>
            <a:r>
              <a:rPr lang="ru-RU" sz="2200" dirty="0"/>
              <a:t> – заводим </a:t>
            </a:r>
            <a:r>
              <a:rPr lang="en-US" sz="2200" dirty="0"/>
              <a:t>“</a:t>
            </a:r>
            <a:r>
              <a:rPr lang="ru-RU" sz="2200" dirty="0"/>
              <a:t>питомцев</a:t>
            </a:r>
            <a:r>
              <a:rPr lang="en-US" sz="2200" dirty="0"/>
              <a:t>”</a:t>
            </a:r>
            <a:endParaRPr lang="ru-RU" sz="2200" dirty="0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80C6D64-C245-4A66-BF70-8933812F4A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199019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Создадим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стейтфулсет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headless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сервис над ним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statefulset.yaml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service.yaml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Создаются по порядку!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stateful-set-0 --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 "echo 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 &gt; /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var/data/id.txt“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stateful-set-1 --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 "echo 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 &gt; /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var/data/id.txt“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Авария на узле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delete pod stateful-set-0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stateful-set-0 -n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-- cat /var/data/id.txt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Автоматически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примонтировало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нужный диск!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55D3071-F7F8-4CEA-9FE7-71E91596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873" y="1727599"/>
            <a:ext cx="2354950" cy="217665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030C43-D618-4F4C-896B-C16F7D775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881" y="1232290"/>
            <a:ext cx="3620645" cy="53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44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Первый </a:t>
            </a:r>
            <a:r>
              <a:rPr lang="en-US" sz="1000" dirty="0" err="1"/>
              <a:t>StatefulSet</a:t>
            </a:r>
            <a:r>
              <a:rPr lang="en-US" sz="1000" dirty="0"/>
              <a:t> – </a:t>
            </a:r>
            <a:r>
              <a:rPr lang="ru-RU" sz="1000" dirty="0"/>
              <a:t>заводим “питомцев”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Первый </a:t>
            </a:r>
            <a:r>
              <a:rPr lang="en-US" sz="2200" dirty="0" err="1"/>
              <a:t>StatefulSet</a:t>
            </a:r>
            <a:r>
              <a:rPr lang="ru-RU" sz="2200" dirty="0"/>
              <a:t> – заводим </a:t>
            </a:r>
            <a:r>
              <a:rPr lang="en-US" sz="2200" dirty="0"/>
              <a:t>“</a:t>
            </a:r>
            <a:r>
              <a:rPr lang="ru-RU" sz="2200" dirty="0"/>
              <a:t>питомцев</a:t>
            </a:r>
            <a:r>
              <a:rPr lang="en-US" sz="2200" dirty="0"/>
              <a:t>”</a:t>
            </a:r>
            <a:endParaRPr lang="ru-RU" sz="2200" dirty="0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80C6D64-C245-4A66-BF70-8933812F4A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199019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Создадим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стейтфулсет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headless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сервис над ним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statefulset.yaml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service.yaml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Создаются по порядку!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stateful-set-0 --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 "echo 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 &gt; /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var/data/id.txt“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stateful-set-1 --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 "echo 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' &gt; /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var/data/id.txt“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Авария на узле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delete pod stateful-set-0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stateful-set-0 -n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-- cat /var/data/id.txt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Автоматически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примонтировало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нужный диск!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55D3071-F7F8-4CEA-9FE7-71E91596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873" y="1727599"/>
            <a:ext cx="2354950" cy="217665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030C43-D618-4F4C-896B-C16F7D775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881" y="1232290"/>
            <a:ext cx="3620645" cy="53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23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Устанавливаем </a:t>
            </a:r>
            <a:r>
              <a:rPr lang="en-US" sz="1000" dirty="0"/>
              <a:t>Helm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Устанавливаем </a:t>
            </a:r>
            <a:r>
              <a:rPr lang="en-US" sz="2200" dirty="0"/>
              <a:t>Helm</a:t>
            </a:r>
            <a:endParaRPr lang="ru-RU" sz="2200" dirty="0"/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82224" y="2332164"/>
            <a:ext cx="7557224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Linux: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curl https://raw.githubusercontent.com/helm/helm/main/scripts/get-helm-3 | bash</a:t>
            </a:r>
            <a:endParaRPr lang="ru-RU" sz="20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MacOS: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brew install helm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Windows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choco</a:t>
            </a: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-helm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Проверка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version</a:t>
            </a: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9404475" y="5692292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https://helm.sh/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081BEB-9032-4601-82A5-647E17C2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394" y="2641927"/>
            <a:ext cx="2396505" cy="226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42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C58A827-A95D-4429-92E2-93336FAB7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19" y="1934999"/>
            <a:ext cx="4098431" cy="3460046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Первый чарт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Первый чарт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F6D8A8-F3D8-411D-9135-FA7E69898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805" y="4702827"/>
            <a:ext cx="3324689" cy="145752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48A79C9-23E4-4B4A-97A0-2501F717C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05" y="1113428"/>
            <a:ext cx="4182059" cy="301032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C136564-039C-43F9-B252-22D9C40F6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0336" y="1190171"/>
            <a:ext cx="2955789" cy="172624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8576D7D-CC9E-426D-BF96-574E5D41EE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2619" y="4536813"/>
            <a:ext cx="3242327" cy="1971581"/>
          </a:xfrm>
          <a:prstGeom prst="rect">
            <a:avLst/>
          </a:prstGeom>
        </p:spPr>
      </p:pic>
      <p:sp>
        <p:nvSpPr>
          <p:cNvPr id="24" name="Текст 3">
            <a:extLst>
              <a:ext uri="{FF2B5EF4-FFF2-40B4-BE49-F238E27FC236}">
                <a16:creationId xmlns:a16="http://schemas.microsoft.com/office/drawing/2014/main" id="{2CA61E10-CBCA-4811-8CB4-158AD6164D3B}"/>
              </a:ext>
            </a:extLst>
          </p:cNvPr>
          <p:cNvSpPr txBox="1">
            <a:spLocks/>
          </p:cNvSpPr>
          <p:nvPr/>
        </p:nvSpPr>
        <p:spPr>
          <a:xfrm>
            <a:off x="8643568" y="6303958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Манифест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DDE7E363-67DF-485B-A606-AD476B6D86AD}"/>
              </a:ext>
            </a:extLst>
          </p:cNvPr>
          <p:cNvSpPr txBox="1">
            <a:spLocks/>
          </p:cNvSpPr>
          <p:nvPr/>
        </p:nvSpPr>
        <p:spPr>
          <a:xfrm>
            <a:off x="8235010" y="4151225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Значения по умолчанию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25F2EE2-769D-43EB-B05D-7B7319FC55D9}"/>
              </a:ext>
            </a:extLst>
          </p:cNvPr>
          <p:cNvSpPr txBox="1">
            <a:spLocks/>
          </p:cNvSpPr>
          <p:nvPr/>
        </p:nvSpPr>
        <p:spPr>
          <a:xfrm>
            <a:off x="4037517" y="344113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Шаблоны</a:t>
            </a:r>
          </a:p>
        </p:txBody>
      </p:sp>
    </p:spTree>
    <p:extLst>
      <p:ext uri="{BB962C8B-B14F-4D97-AF65-F5344CB8AC3E}">
        <p14:creationId xmlns:p14="http://schemas.microsoft.com/office/powerpoint/2010/main" val="3839250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Работаем с чартом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Работаем с чартом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F6D8A8-F3D8-411D-9135-FA7E6989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234" y="2963904"/>
            <a:ext cx="4077908" cy="1787736"/>
          </a:xfrm>
          <a:prstGeom prst="rect">
            <a:avLst/>
          </a:prstGeom>
        </p:spPr>
      </p:pic>
      <p:sp>
        <p:nvSpPr>
          <p:cNvPr id="12" name="Текст 3">
            <a:extLst>
              <a:ext uri="{FF2B5EF4-FFF2-40B4-BE49-F238E27FC236}">
                <a16:creationId xmlns:a16="http://schemas.microsoft.com/office/drawing/2014/main" id="{5DC308E2-BAFA-4E90-B36E-2BCC5A437E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20492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Производим подстановку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template test-release 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Установим в кластер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install my-app .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all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-l app=my-app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port-forward svc/my-app-service 8080:80 -n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curl http://localhost:8080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Изменения на лету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upgrade my-app .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--set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replicaCount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=4 --set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content.title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="Production time!"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718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Разные окружения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Разные окружения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DC308E2-BAFA-4E90-B36E-2BCC5A437E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20492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Создадим дев и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прод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install my-app-prod . -f values-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prod.yaml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install my-app-dev . -f values-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dev.yaml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Удалим старое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uninstall my-app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Вот она – легкость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Хелма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6B5EA1-0C84-4F20-836D-F1C6A20A1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066" y="2069754"/>
            <a:ext cx="2943636" cy="12098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973300-9E02-4F13-950B-3A8BC0958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319" y="3836902"/>
            <a:ext cx="2562583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70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А мы ведь за </a:t>
            </a:r>
            <a:r>
              <a:rPr lang="ru-RU" sz="1000" dirty="0" err="1"/>
              <a:t>постгресом</a:t>
            </a:r>
            <a:r>
              <a:rPr lang="ru-RU" sz="1000" dirty="0"/>
              <a:t> пришли…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47" y="1191876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А мы ведь за </a:t>
            </a:r>
            <a:r>
              <a:rPr lang="ru-RU" sz="2200" dirty="0" err="1"/>
              <a:t>постгресом</a:t>
            </a:r>
            <a:r>
              <a:rPr lang="ru-RU" sz="2200" dirty="0"/>
              <a:t> пришли…</a:t>
            </a: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5094667" y="64693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https://artifacthub.io/packages/search?kind=0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5EB204-4B19-4215-B4DF-E8C6BFEF9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67" y="1609249"/>
            <a:ext cx="8680450" cy="459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85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Поднимаем </a:t>
            </a:r>
            <a:r>
              <a:rPr lang="ru-RU" sz="1000" dirty="0" err="1"/>
              <a:t>постгрес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Поднимаем </a:t>
            </a:r>
            <a:r>
              <a:rPr lang="ru-RU" sz="2200" dirty="0" err="1"/>
              <a:t>постгрес</a:t>
            </a:r>
            <a:endParaRPr lang="ru-RU" sz="2200" dirty="0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DC308E2-BAFA-4E90-B36E-2BCC5A437E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18587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values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чарта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show values oci://registry-1.docker.io/bitnamicharts/postgresql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Установим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install 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postgres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oci://registry-1.docker.io/bitnamicharts/postgresql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 -f values-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postgres.yaml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all,pvc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-l app.kubernetes.io/instance=my-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postgres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Заходим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-it 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postgres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-0 -n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--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psql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-U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shop_user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-d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shop_db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15D8D9-67C0-45C8-B45F-AF6C89551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02" y="3575452"/>
            <a:ext cx="3277045" cy="302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03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 err="1"/>
              <a:t>Постгрес</a:t>
            </a:r>
            <a:r>
              <a:rPr lang="ru-RU" sz="1000" dirty="0"/>
              <a:t> с миграцией – хуки, тесты и зависимости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 err="1"/>
              <a:t>Постгрес</a:t>
            </a:r>
            <a:r>
              <a:rPr lang="ru-RU" sz="2200" dirty="0"/>
              <a:t> с миграцией – хуки, тесты и зависимости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DC308E2-BAFA-4E90-B36E-2BCC5A437E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78284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Подгрузим зависимости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dependency update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Установим в кластер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install my-orders .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8D4E952-8457-424D-9E3B-D5E00B2BA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05" y="1727599"/>
            <a:ext cx="6706846" cy="475691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58B4B2-E90B-4D16-8328-242167843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97" y="1985631"/>
            <a:ext cx="3849582" cy="168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4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 err="1"/>
              <a:t>Постгрес</a:t>
            </a:r>
            <a:r>
              <a:rPr lang="ru-RU" sz="1000" dirty="0"/>
              <a:t> с миграцией – хуки, тесты и зависимости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 err="1"/>
              <a:t>Постгрес</a:t>
            </a:r>
            <a:r>
              <a:rPr lang="ru-RU" sz="2200" dirty="0"/>
              <a:t> с миграцией – хуки, тесты и зависимости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DC308E2-BAFA-4E90-B36E-2BCC5A437E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18587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 тесты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helm test my-orders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Тесты прошли!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logs my-orders-test-select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319768-2395-4204-A80A-7269C405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421" y="3041236"/>
            <a:ext cx="9063906" cy="366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91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 теперь проделайте это сами!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А теперь проделайте это сами!</a:t>
            </a:r>
            <a:endParaRPr lang="ru-RU" sz="1500" dirty="0"/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8B5CC6D-5C8B-4D6B-AB0F-AC90697B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839" y="2111094"/>
            <a:ext cx="5845705" cy="438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668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Поднимаем </a:t>
            </a:r>
            <a:r>
              <a:rPr lang="en-US" dirty="0" err="1"/>
              <a:t>Keycloak</a:t>
            </a:r>
            <a:r>
              <a:rPr lang="en-US" dirty="0"/>
              <a:t>. </a:t>
            </a:r>
            <a:r>
              <a:rPr lang="ru-RU" dirty="0"/>
              <a:t>Снова. – домашнее задание</a:t>
            </a:r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Поднимаем </a:t>
            </a:r>
            <a:r>
              <a:rPr lang="en-US" dirty="0" err="1"/>
              <a:t>Keycloak</a:t>
            </a:r>
            <a:r>
              <a:rPr lang="ru-RU" dirty="0"/>
              <a:t>. Снова.</a:t>
            </a:r>
            <a:r>
              <a:rPr lang="en-US" dirty="0"/>
              <a:t> </a:t>
            </a:r>
            <a:r>
              <a:rPr lang="ru-RU" dirty="0"/>
              <a:t>– домашнее задание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149486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Хелм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-чарт с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системой авторизации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6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Поднять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dev-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режиме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8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Поднять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продовом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режиме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 на 10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Прикрыть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самоподписанным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сертификатом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да, на него есть чарт, и его </a:t>
            </a:r>
            <a:r>
              <a:rPr lang="ru-RU" sz="1800" i="1" dirty="0">
                <a:latin typeface="Times New Roman" pitchFamily="18" charset="0"/>
                <a:cs typeface="Times New Roman" pitchFamily="18" charset="0"/>
              </a:rPr>
              <a:t>можно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использовать. Но в таком случае проверьте, что он создал и тщательно опишите, что для чего! Необходим фотоотчет в формате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.pdf (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маркдаун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BB6F24-C3B1-4623-A843-C6389172E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54" y="2149486"/>
            <a:ext cx="4212490" cy="342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47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Нюансы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Хелм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5330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Продолжение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Ждем всех на следующем занятии!!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780450-BA1E-4121-902B-0CD402D7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49" y="1564986"/>
            <a:ext cx="5014803" cy="36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73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E736E-544E-4D4E-B198-E78EFE261ACA}"/>
              </a:ext>
            </a:extLst>
          </p:cNvPr>
          <p:cNvSpPr txBox="1"/>
          <p:nvPr/>
        </p:nvSpPr>
        <p:spPr>
          <a:xfrm>
            <a:off x="3810918" y="3996252"/>
            <a:ext cx="4972131" cy="741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Благодарю</a:t>
            </a:r>
            <a:r>
              <a:rPr kumimoji="0" lang="ru-RU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 за внимание</a:t>
            </a:r>
            <a:r>
              <a:rPr kumimoji="0" lang="en-US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!</a:t>
            </a:r>
            <a:endParaRPr kumimoji="0" lang="ru-RU" sz="36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F1902-C67E-4041-92B0-58614E046C89}"/>
              </a:ext>
            </a:extLst>
          </p:cNvPr>
          <p:cNvSpPr txBox="1"/>
          <p:nvPr/>
        </p:nvSpPr>
        <p:spPr>
          <a:xfrm>
            <a:off x="600533" y="6417468"/>
            <a:ext cx="10860064" cy="256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66" hangingPunct="0"/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Гудзикевич М. С., БПИ-198, курсовая работа, Мобильная аркада с сенсорным управлением – </a:t>
            </a:r>
            <a:r>
              <a:rPr lang="en-US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msgudzikevich@edu.hse.ru</a:t>
            </a:r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				        23</a:t>
            </a:r>
          </a:p>
        </p:txBody>
      </p:sp>
      <p:pic>
        <p:nvPicPr>
          <p:cNvPr id="103" name="Изображение" descr="Изображение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701"/>
                    </a14:imgEffect>
                    <a14:imgEffect>
                      <a14:saturation sat="338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9166" y="2270436"/>
            <a:ext cx="1793666" cy="1734292"/>
          </a:xfrm>
          <a:prstGeom prst="rect">
            <a:avLst/>
          </a:prstGeom>
          <a:noFill/>
          <a:ln w="12700">
            <a:miter lim="4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8D85F-E9B7-41FC-AFF3-6C52C594B625}"/>
              </a:ext>
            </a:extLst>
          </p:cNvPr>
          <p:cNvSpPr txBox="1"/>
          <p:nvPr/>
        </p:nvSpPr>
        <p:spPr>
          <a:xfrm>
            <a:off x="4761851" y="4622616"/>
            <a:ext cx="2668296" cy="833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Василевский Владимир Игоревич</a:t>
            </a:r>
            <a:b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vvasilevskiy@hse.ru</a:t>
            </a:r>
            <a:b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Москва 202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6</a:t>
            </a:r>
            <a:endParaRPr kumimoji="0" lang="ru-RU" sz="14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8F20F2384D3D04CA8B8E1E250982FD1" ma:contentTypeVersion="16" ma:contentTypeDescription="Создание документа." ma:contentTypeScope="" ma:versionID="28665edab9a3ead5c83fd3ecb67189db">
  <xsd:schema xmlns:xsd="http://www.w3.org/2001/XMLSchema" xmlns:xs="http://www.w3.org/2001/XMLSchema" xmlns:p="http://schemas.microsoft.com/office/2006/metadata/properties" xmlns:ns2="bb739a2f-a689-468a-89a2-73972a296307" xmlns:ns3="d7a0ef7b-a4f6-4e65-b83c-7dbdba30d41e" targetNamespace="http://schemas.microsoft.com/office/2006/metadata/properties" ma:root="true" ma:fieldsID="3034587aebd71cb0ebe2e2dc1c6e9fa2" ns2:_="" ns3:_="">
    <xsd:import namespace="bb739a2f-a689-468a-89a2-73972a296307"/>
    <xsd:import namespace="d7a0ef7b-a4f6-4e65-b83c-7dbdba30d4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39a2f-a689-468a-89a2-73972a296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0ef7b-a4f6-4e65-b83c-7dbdba30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d8e2f9-8114-4573-8cf5-afcf38c4c1f4}" ma:internalName="TaxCatchAll" ma:showField="CatchAllData" ma:web="d7a0ef7b-a4f6-4e65-b83c-7dbdba30d4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739a2f-a689-468a-89a2-73972a296307">
      <Terms xmlns="http://schemas.microsoft.com/office/infopath/2007/PartnerControls"/>
    </lcf76f155ced4ddcb4097134ff3c332f>
    <TaxCatchAll xmlns="d7a0ef7b-a4f6-4e65-b83c-7dbdba30d41e" xsi:nil="true"/>
  </documentManagement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7EB8B4-4533-49D8-B147-0BB08BEFB7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39a2f-a689-468a-89a2-73972a296307"/>
    <ds:schemaRef ds:uri="d7a0ef7b-a4f6-4e65-b83c-7dbdba30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9875bd71-cde8-496c-a136-433f55d5e6d0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96afe77-3acb-4328-97fc-408e1bde3ecd"/>
    <ds:schemaRef ds:uri="bb739a2f-a689-468a-89a2-73972a296307"/>
    <ds:schemaRef ds:uri="d7a0ef7b-a4f6-4e65-b83c-7dbdba30d41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6179</TotalTime>
  <Words>2065</Words>
  <Application>Microsoft Office PowerPoint</Application>
  <PresentationFormat>Широкоэкранный</PresentationFormat>
  <Paragraphs>380</Paragraphs>
  <Slides>36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HSE Sans</vt:lpstr>
      <vt:lpstr>Arial</vt:lpstr>
      <vt:lpstr>Calibri</vt:lpstr>
      <vt:lpstr>Calibri Light</vt:lpstr>
      <vt:lpstr>Times New Roman</vt:lpstr>
      <vt:lpstr>Office Theme</vt:lpstr>
      <vt:lpstr>Нюансы Кубернетес и Хелм</vt:lpstr>
      <vt:lpstr>Архитектура</vt:lpstr>
      <vt:lpstr>Мы поговорили о…</vt:lpstr>
      <vt:lpstr>Решение - PersistantVolume</vt:lpstr>
      <vt:lpstr>Привязка - PersistantVolumeClaim</vt:lpstr>
      <vt:lpstr>Привязка - PersistantVolumeClaim</vt:lpstr>
      <vt:lpstr>Базы данных и необходимость StatefulSet</vt:lpstr>
      <vt:lpstr>Базы данных и необходимость StatefulSet</vt:lpstr>
      <vt:lpstr>Непросто, нелегко – управление БД</vt:lpstr>
      <vt:lpstr>Предпосылки появления Helm</vt:lpstr>
      <vt:lpstr>Напоминает Docker</vt:lpstr>
      <vt:lpstr>И докер-компоуз…</vt:lpstr>
      <vt:lpstr>В крупной компании…</vt:lpstr>
      <vt:lpstr>Каков он - Helm</vt:lpstr>
      <vt:lpstr>Чарты применяются…   Кем?</vt:lpstr>
      <vt:lpstr>Хуки и тесты - предпосылки</vt:lpstr>
      <vt:lpstr>Хуки и тесты</vt:lpstr>
      <vt:lpstr>Зависимости</vt:lpstr>
      <vt:lpstr>Поднимаем карманный кластер</vt:lpstr>
      <vt:lpstr>Почему мы не храним данные на ноде</vt:lpstr>
      <vt:lpstr>Как мы храним данные на самом деле</vt:lpstr>
      <vt:lpstr>Проверка персистентности</vt:lpstr>
      <vt:lpstr>Первый StatefulSet – заводим “питомцев”</vt:lpstr>
      <vt:lpstr>Первый StatefulSet – заводим “питомцев”</vt:lpstr>
      <vt:lpstr>Устанавливаем Helm</vt:lpstr>
      <vt:lpstr>Первый чарт</vt:lpstr>
      <vt:lpstr>Работаем с чартом</vt:lpstr>
      <vt:lpstr>Разные окружения</vt:lpstr>
      <vt:lpstr>А мы ведь за постгресом пришли…</vt:lpstr>
      <vt:lpstr>Поднимаем постгрес</vt:lpstr>
      <vt:lpstr>Постгрес с миграцией – хуки, тесты и зависимости</vt:lpstr>
      <vt:lpstr>Постгрес с миграцией – хуки, тесты и зависимости</vt:lpstr>
      <vt:lpstr>А теперь проделайте это сами!</vt:lpstr>
      <vt:lpstr>Поднимаем Keycloak. Снова. – домашнее задание</vt:lpstr>
      <vt:lpstr>План на следующее занятие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Goodbird Goodbird</cp:lastModifiedBy>
  <cp:revision>1703</cp:revision>
  <cp:lastPrinted>2021-11-11T13:08:42Z</cp:lastPrinted>
  <dcterms:created xsi:type="dcterms:W3CDTF">2021-11-11T08:52:47Z</dcterms:created>
  <dcterms:modified xsi:type="dcterms:W3CDTF">2026-10-07T21:32:46Z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0x010100E8F20F2384D3D04CA8B8E1E250982FD1</vt:lpwstr>
  </property>
</Properties>
</file>